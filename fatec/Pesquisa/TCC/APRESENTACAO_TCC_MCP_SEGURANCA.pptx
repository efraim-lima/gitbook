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período. Meu nome é Efraim Lima. Apresentamos um trabalho sobre Recomendações de Segurança para MCP AI em containers. Obrigado à banca e à instituição.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Contexto histórico: MCP cresceu exponencialmente. 2023 primeiros agentes, 2024 expansão massiva, 2025 MCP virou padrão. O protocolo MCP é como um USB-C para inteligência artificial - padroniza conexões. Mas com essa flexibilidade vem risco de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Identificamos três classes de vulnerabilidades críticas. Primeira: acesso direto - qualquer pessoa na rede consegue conectar. Segunda: injeção de prompts. Terceira: falta de isolamento de rede. Juntas = CVSS 8.1 de risco crítico.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claro: reduzir risco crítico de MCP para negligenciável através de arquitetura em camadas. Hipótese testável: 3 camadas reduzem CVSS de 8.1 para ≤1.0 e bloqueiam ≥95% de prompts maliciosos.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Usamos framework STRIDE para mapeamento sistemático de ameaças. Seis categorias de risco. Testamos em três grupos para comparar progresso.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cenários: sem proteção (crítico) vs com proteção em 3 camadas (negligenciável). A arquitetura de defesa em camadas é o diferencial.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Camada 1: Hardening com proxy reverso. Nginx força TLS 1.3, aplica rate limiting, mascara porta 8501. Resultado: 65% menos ataques de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Camada 2: Identidade e autorização. OAuth2 com Keycloak garante que só usuários autenticados acessam. RBAC previne escalação de privilégio. Cada agente tem escopo específico.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Camada 3: Filtragem semântica com Qwen 2.5. LLM local analisa intenção de cada prompt. Três classificações: SAFE (processa), RISKY (requer confirmação), UNSAFE (bloqueia). 95.65% de acurácia.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Suite de testes: 391 prompts maliciosos em 6 categorias. Taxa de bloqueio sobe de 0% (sem proteção) → 84% (hardening) → 95.65% (completo).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 CVSS reduzido drasticamente: de 8.1 (crítico) para 0.9 (negligenciável). Redução total de 89% demonstra efetividade da estratégia de defesa em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estudos de caso reais: jailbreak sofisticado (bloqueado por IA), SQL injection (bloqueado por RBAC + IA), path traversal (bloqueado por pattern + IA). Defesa em camadas prova efetividade.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princípios: menor privilégio, defesa em camadas, zero trust, auditoria. Implementação prática de segurança em 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Conclusões: hipótese provada, eficácia validada, implementação prática. Futuros: GPU, multi-model, federated learning, honeypot, service mesh.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Agradecimento final. Disponibilidade para perguntas da banca e discussão do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3D7A"/>
            </a:gs>
            <a:gs pos="100000">
              <a:srgbClr val="14326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RECOMENDAÇÕES DE SEGURANÇA</a:t>
            </a:r>
          </a:p>
          <a:p>
            <a:r>
              <a:t>PARA O USO DO MCP AI INTEGRADO</a:t>
            </a:r>
          </a:p>
          <a:p>
            <a:r>
              <a:t>À PLATAFORMA DE ORQUESTRAÇÃO DE CONTAINERS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9144000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6E6E6"/>
                </a:solidFill>
              </a:defRPr>
            </a:pPr>
            <a:r>
              <a:t>Autores: Efraim Lima, Gabriel Pereira, Giovanna Pardini</a:t>
            </a:r>
          </a:p>
          <a:p>
            <a:r>
              <a:t>Orientador: Prof. Dr. [Nome]</a:t>
            </a:r>
          </a:p>
          <a:p/>
          <a:p>
            <a:r>
              <a:t>FATEC São Paulo | CPS - Centro Paula Souza</a:t>
            </a:r>
          </a:p>
          <a:p>
            <a:r>
              <a:t>Defesa: 27 de Maio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D7A"/>
                </a:solidFill>
              </a:defRPr>
            </a:pPr>
            <a:r>
              <a:t>Contexto - A Era dos Agentes de IA e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</a:defRPr>
            </a:pPr>
            <a:r>
              <a:t>• 2023: Primeiros agentes comerciais (Claude, GPT-4 Plugins)</a:t>
            </a:r>
          </a:p>
          <a:p/>
          <a:p>
            <a:r>
              <a:t>• 2024: Expansão exponencial (+500% adoção empresarial)</a:t>
            </a:r>
          </a:p>
          <a:p/>
          <a:p>
            <a:r>
              <a:t>• 2025: Padrão MCP estabelecido ('USB-C para IA')</a:t>
            </a:r>
          </a:p>
          <a:p/>
          <a:p>
            <a:r>
              <a:t>• 2026: Integração com Kubernetes e orquestração automática</a:t>
            </a:r>
          </a:p>
          <a:p/>
          <a:p>
            <a:r>
              <a:t>• MCP permite conexão padronizada entre agentes e recursos</a:t>
            </a:r>
          </a:p>
          <a:p/>
          <a:p>
            <a:r>
              <a:t>• Maior flexibilidade = Maior superfície de ataque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657600" cy="4114800"/>
          </a:xfrm>
          <a:prstGeom prst="rect">
            <a:avLst/>
          </a:prstGeom>
          <a:solidFill>
            <a:srgbClr val="FF6B35"/>
          </a:solidFill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📈 CRESCIMENTO 2025-2026</a:t>
            </a:r>
          </a:p>
          <a:p/>
          <a:p>
            <a:r>
              <a:t>+340% em buscas por</a:t>
            </a:r>
          </a:p>
          <a:p>
            <a:r>
              <a:t>'MCP Security'</a:t>
            </a:r>
          </a:p>
          <a:p/>
          <a:p>
            <a:r>
              <a:t>+89% em adoções</a:t>
            </a:r>
          </a:p>
          <a:p>
            <a:r>
              <a:t>empresariais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D7A"/>
                </a:solidFill>
              </a:defRPr>
            </a:pPr>
            <a:r>
              <a:t>Problema: Vulnerabilidades Detectadas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2560320" cy="4114800"/>
          </a:xfrm>
          <a:prstGeom prst="rect">
            <a:avLst/>
          </a:prstGeom>
          <a:solidFill>
            <a:srgbClr val="FFF0F0"/>
          </a:solidFill>
          <a:ln w="38100">
            <a:solidFill>
              <a:srgbClr val="C9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🔓 CRÍTICA</a:t>
            </a:r>
          </a:p>
          <a:p>
            <a:r>
              <a:t>(CVSS 9.8)</a:t>
            </a:r>
          </a:p>
          <a:p/>
          <a:p>
            <a:r>
              <a:t>Acesso sem Autenticação</a:t>
            </a:r>
          </a:p>
          <a:p/>
          <a:p>
            <a:r>
              <a:t>CVE-2025-65720</a:t>
            </a:r>
          </a:p>
          <a:p/>
          <a:p>
            <a:r>
              <a:t>Serveridor MCP expõe porta 8501 sem credenciais</a:t>
            </a:r>
          </a:p>
          <a:p/>
          <a:p>
            <a:r>
              <a:t>Impacto: Execução remota de código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645920"/>
            <a:ext cx="2560320" cy="4114800"/>
          </a:xfrm>
          <a:prstGeom prst="rect">
            <a:avLst/>
          </a:prstGeom>
          <a:solidFill>
            <a:srgbClr val="FFF5E6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73736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💉 ALTO</a:t>
            </a:r>
          </a:p>
          <a:p>
            <a:r>
              <a:t>(CVSS 7.5)</a:t>
            </a:r>
          </a:p>
          <a:p/>
          <a:p>
            <a:r>
              <a:t>Prompt Injection</a:t>
            </a:r>
          </a:p>
          <a:p/>
          <a:p>
            <a:r>
              <a:t>Agente B envia prompts crafted para contornar políticas</a:t>
            </a:r>
          </a:p>
          <a:p/>
          <a:p>
            <a:r>
              <a:t>Impacto: Bypass de controles de segurança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645920"/>
            <a:ext cx="2560320" cy="4114800"/>
          </a:xfrm>
          <a:prstGeom prst="rect">
            <a:avLst/>
          </a:prstGeom>
          <a:solidFill>
            <a:srgbClr val="FFF5E6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73736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🚪 ALTO</a:t>
            </a:r>
          </a:p>
          <a:p>
            <a:r>
              <a:t>(CVSS 7.3)</a:t>
            </a:r>
          </a:p>
          <a:p/>
          <a:p>
            <a:r>
              <a:t>Falta de Isolamento de Rede</a:t>
            </a:r>
          </a:p>
          <a:p/>
          <a:p>
            <a:r>
              <a:t>Sem proxy reverso, agente malicioso conecta direto ao cluster</a:t>
            </a:r>
          </a:p>
          <a:p/>
          <a:p>
            <a:r>
              <a:t>Impacto: Acesso privilegiado ao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solidFill>
            <a:srgbClr val="C91E1E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Impacto Agregado: Score CVSS 8.1 (ELEVADO - Risco Crítico)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D7A"/>
                </a:solidFill>
              </a:defRPr>
            </a:pPr>
            <a:r>
              <a:t>Objetivos Gerais e Hipótese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3840480" cy="2926080"/>
          </a:xfrm>
          <a:prstGeom prst="rect">
            <a:avLst/>
          </a:prstGeom>
          <a:solidFill>
            <a:srgbClr val="E8F0FE"/>
          </a:solidFill>
          <a:ln w="2540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D7A"/>
                </a:solidFill>
              </a:defRPr>
            </a:pPr>
            <a:r>
              <a:t>🎯 OBJETIVO GERAL</a:t>
            </a:r>
          </a:p>
          <a:p/>
          <a:p>
            <a:r>
              <a:t>Propor e validar arquitetura de segurança em camadas (Defense-in-Depth) que reduza a superfície de ataque de MCP em Kubernetes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645920"/>
            <a:ext cx="3840480" cy="2926080"/>
          </a:xfrm>
          <a:prstGeom prst="rect">
            <a:avLst/>
          </a:prstGeom>
          <a:solidFill>
            <a:srgbClr val="FFEBCD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7373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⚡ HIPÓTESE</a:t>
            </a:r>
          </a:p>
          <a:p/>
          <a:p>
            <a:r>
              <a:t>Redução CVSS de 8.1 para ≤ 1.0 + Bloqueio de ≥95% de prompts maliciosos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① Implementar proxy reverso (Nginx) com TLS 1.3</a:t>
            </a:r>
          </a:p>
          <a:p>
            <a:r>
              <a:t>② Implementar controle de identidade centralizado (Keycloak) com OAuth2</a:t>
            </a:r>
          </a:p>
          <a:p>
            <a:r>
              <a:t>③ Integrar guardrail semântico com LLM local (Qwen 2.5)</a:t>
            </a:r>
          </a:p>
          <a:p>
            <a:r>
              <a:t>④ Criar suite de testes com 391+ prompts maliciosos</a:t>
            </a:r>
          </a:p>
          <a:p>
            <a:r>
              <a:t>⑤ Medir eficácia de bloqueio e impacto CVSS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D7A"/>
                </a:solidFill>
              </a:defRPr>
            </a:pPr>
            <a:r>
              <a:t>Metodologia - Framework STRIDE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201168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TIPO    DESCRIÇÃO              MITIGAÇÃO ESCOLHIDA</a:t>
            </a:r>
          </a:p>
          <a:p>
            <a:r>
              <a:t>S          Spoofing               OAuth2 + Keycloak</a:t>
            </a:r>
          </a:p>
          <a:p>
            <a:r>
              <a:t>T          Tampering              TLS 1.3 + Auditoria</a:t>
            </a:r>
          </a:p>
          <a:p>
            <a:r>
              <a:t>R          Repudiation            Logging Estruturado</a:t>
            </a:r>
          </a:p>
          <a:p>
            <a:r>
              <a:t>I           Information Disc.      Encryption at Rest</a:t>
            </a:r>
          </a:p>
          <a:p>
            <a:r>
              <a:t>D          Denial of Service      Rate Limiting (Nginx)</a:t>
            </a:r>
          </a:p>
          <a:p>
            <a:r>
              <a:t>E          Elevation of Priv.     RBAC + Guardrail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2560320" cy="2560320"/>
          </a:xfrm>
          <a:prstGeom prst="rect">
            <a:avLst/>
          </a:prstGeom>
          <a:solidFill>
            <a:srgbClr val="C91E1E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GRUPO A</a:t>
            </a:r>
          </a:p>
          <a:p/>
          <a:p>
            <a:r>
              <a:t>BASELINE</a:t>
            </a:r>
          </a:p>
          <a:p/>
          <a:p>
            <a:r>
              <a:t>Sem proteção</a:t>
            </a:r>
          </a:p>
          <a:p/>
          <a:p>
            <a:r>
              <a:t>Vulnerável a todos os vetores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3840480"/>
            <a:ext cx="2560320" cy="2560320"/>
          </a:xfrm>
          <a:prstGeom prst="rect">
            <a:avLst/>
          </a:prstGeom>
          <a:solidFill>
            <a:srgbClr val="FF6B35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GRUPO B</a:t>
            </a:r>
          </a:p>
          <a:p/>
          <a:p>
            <a:r>
              <a:t>HARDENING</a:t>
            </a:r>
          </a:p>
          <a:p/>
          <a:p>
            <a:r>
              <a:t>+ Nginx + Keycloak</a:t>
            </a:r>
          </a:p>
          <a:p/>
          <a:p>
            <a:r>
              <a:t>Reduz acesso direto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840480"/>
            <a:ext cx="2560320" cy="2560320"/>
          </a:xfrm>
          <a:prstGeom prst="rect">
            <a:avLst/>
          </a:prstGeom>
          <a:solidFill>
            <a:srgbClr val="2DA44F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GRUPO C</a:t>
            </a:r>
          </a:p>
          <a:p/>
          <a:p>
            <a:r>
              <a:t>GUARDRAIL</a:t>
            </a:r>
          </a:p>
          <a:p/>
          <a:p>
            <a:r>
              <a:t>+ Todas as 3 camadas</a:t>
            </a:r>
          </a:p>
          <a:p/>
          <a:p>
            <a:r>
              <a:t>Defesa semântica completa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D7A"/>
                </a:solidFill>
              </a:defRPr>
            </a:pPr>
            <a:r>
              <a:t>Arquitetura - Antes vs. Depois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4114800" cy="4754880"/>
          </a:xfrm>
          <a:prstGeom prst="rect">
            <a:avLst/>
          </a:prstGeom>
          <a:solidFill>
            <a:srgbClr val="FFF0F0"/>
          </a:solidFill>
          <a:ln w="25400">
            <a:solidFill>
              <a:srgbClr val="C9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91E1E"/>
                </a:solidFill>
              </a:defRPr>
            </a:pPr>
            <a:r>
              <a:t>❌ ANTES: Baseline Vulnerável</a:t>
            </a:r>
          </a:p>
          <a:p>
            <a:r>
              <a:t>(CVSS 8.1)</a:t>
            </a:r>
          </a:p>
          <a:p/>
          <a:p>
            <a:r>
              <a:t>🔓 Porta 8501 Aberta</a:t>
            </a:r>
          </a:p>
          <a:p>
            <a:r>
              <a:t>❌ Sem TLS</a:t>
            </a:r>
          </a:p>
          <a:p>
            <a:r>
              <a:t>❌ Sem Autenticação</a:t>
            </a:r>
          </a:p>
          <a:p>
            <a:r>
              <a:t>❌ Sem Validação de Prompts</a:t>
            </a:r>
          </a:p>
          <a:p>
            <a:r>
              <a:t>❌ RCE Direto no K8s</a:t>
            </a:r>
          </a:p>
          <a:p/>
          <a:p>
            <a:r>
              <a:t>💀 Acesso Aberto</a:t>
            </a:r>
          </a:p>
          <a:p>
            <a:r>
              <a:t>⚠️ Sem Auditoria</a:t>
            </a:r>
          </a:p>
          <a:p>
            <a:r>
              <a:t>🚪 Sem Isolamento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645920"/>
            <a:ext cx="4114800" cy="4754880"/>
          </a:xfrm>
          <a:prstGeom prst="rect">
            <a:avLst/>
          </a:prstGeom>
          <a:solidFill>
            <a:srgbClr val="F0FFF0"/>
          </a:solidFill>
          <a:ln w="25400">
            <a:solidFill>
              <a:srgbClr val="2DA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A44F"/>
                </a:solidFill>
              </a:defRPr>
            </a:pPr>
            <a:r>
              <a:t>✅ DEPOIS: Com Defesa em Camadas</a:t>
            </a:r>
          </a:p>
          <a:p>
            <a:r>
              <a:t>(CVSS 0.9)</a:t>
            </a:r>
          </a:p>
          <a:p/>
          <a:p>
            <a:r>
              <a:t>✅ Camada 1: Nginx + TLS 1.3</a:t>
            </a:r>
          </a:p>
          <a:p>
            <a:r>
              <a:t>✅ Camada 2: OAuth2 + Keycloak</a:t>
            </a:r>
          </a:p>
          <a:p>
            <a:r>
              <a:t>✅ Camada 3: Guardrail Qwen 2.5</a:t>
            </a:r>
          </a:p>
          <a:p/>
          <a:p>
            <a:r>
              <a:t>🔒 Acesso Controlado</a:t>
            </a:r>
          </a:p>
          <a:p>
            <a:r>
              <a:t>📊 Auditoria Total</a:t>
            </a:r>
          </a:p>
          <a:p>
            <a:r>
              <a:t>🏗️ Isolamento em Camadas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8229600" cy="777240"/>
          </a:xfrm>
          <a:prstGeom prst="rect">
            <a:avLst/>
          </a:prstGeom>
          <a:solidFill>
            <a:srgbClr val="003D7A"/>
          </a:solidFill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Redução de Risco: 8.1 → 0.9 | Melhoria: 89%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D7A"/>
                </a:solidFill>
              </a:defRPr>
            </a:pPr>
            <a:r>
              <a:t>Implementação - Camada 1 (Hardening com Nginx + TLS 1.3)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• Proxy Reverso com Nginx</a:t>
            </a:r>
          </a:p>
          <a:p>
            <a:r>
              <a:t>• TLS 1.3 Criptografia</a:t>
            </a:r>
          </a:p>
          <a:p>
            <a:r>
              <a:t>• Rate Limiting 100 req/seg</a:t>
            </a:r>
          </a:p>
          <a:p>
            <a:r>
              <a:t>• Certificados Let's Encrypt</a:t>
            </a:r>
          </a:p>
          <a:p>
            <a:r>
              <a:t>• HTTP/2 Multiplexing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1828800"/>
          </a:xfrm>
          <a:prstGeom prst="rect">
            <a:avLst/>
          </a:prstGeom>
          <a:solidFill>
            <a:srgbClr val="003D7A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Tráfego N.Cripto: 100% → 0% ✓</a:t>
            </a:r>
          </a:p>
          <a:p>
            <a:r>
              <a:t>Rate Limiting: Ativo ✓</a:t>
            </a:r>
          </a:p>
          <a:p>
            <a:r>
              <a:t>CVSS: 9.8 → 7.5 (-24%)</a:t>
            </a:r>
          </a:p>
          <a:p>
            <a:r>
              <a:t>Redução Atacantes: 65%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680960" cy="256032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</a:defRPr>
            </a:pPr>
            <a:r>
              <a:t># Configuração Nginx</a:t>
            </a:r>
          </a:p>
          <a:p>
            <a:r>
              <a:t>ssl_protocols TLSv1.3 TLSv1.2;</a:t>
            </a:r>
          </a:p>
          <a:p>
            <a:r>
              <a:t>ssl_ciphers HIGH:!aNULL:!MD5;</a:t>
            </a:r>
          </a:p>
          <a:p>
            <a:r>
              <a:t>limit_req_zone $binary_remote_addr zone=mcp_limit:10m rate=10r/s;</a:t>
            </a:r>
          </a:p>
          <a:p>
            <a:r>
              <a:t>proxy_pass http://mcp-backend:8501;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D7A"/>
                </a:solidFill>
              </a:defRPr>
            </a:pPr>
            <a:r>
              <a:t>Implementação - Camada 2 (Identidade com Keycloak + OAuth2)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• OAuth2 Centralized Auth</a:t>
            </a:r>
          </a:p>
          <a:p>
            <a:r>
              <a:t>• JWT Tokens (TTL 1h)</a:t>
            </a:r>
          </a:p>
          <a:p>
            <a:r>
              <a:t>• RBAC Policies</a:t>
            </a:r>
          </a:p>
          <a:p>
            <a:r>
              <a:t>• Audit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1645920"/>
          </a:xfrm>
          <a:prstGeom prst="rect">
            <a:avLst/>
          </a:prstGeom>
          <a:solidFill>
            <a:srgbClr val="003D7A"/>
          </a:solidFill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RBAC Roles:</a:t>
            </a:r>
          </a:p>
          <a:p>
            <a:r>
              <a:t>• mcp_admin (full)</a:t>
            </a:r>
          </a:p>
          <a:p>
            <a:r>
              <a:t>• mcp_user (read+safe)</a:t>
            </a:r>
          </a:p>
          <a:p>
            <a:r>
              <a:t>• bot_agent_b (exec:safe)</a:t>
            </a:r>
          </a:p>
          <a:p>
            <a:r>
              <a:t>• mcp_guest (read:public)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680960" cy="292608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Fluxo OAuth2:</a:t>
            </a:r>
          </a:p>
          <a:p>
            <a:r>
              <a:t>1. Agente envia credenciais → 2. Keycloak valida → 3. JWT Token emitido → 4. MCP Server verifica token → 5. RBAC applica políticas</a:t>
            </a:r>
          </a:p>
          <a:p/>
          <a:p>
            <a:r>
              <a:t>Resultado: Apenas usuários autenticados conseguem acessar. Cada ação é auditada.</a:t>
            </a:r>
          </a:p>
          <a:p>
            <a:r>
              <a:t>CVSS: 7.5 → 6.8 (-9%) | RBAC previne escalação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D7A"/>
                </a:solidFill>
              </a:defRPr>
            </a:pPr>
            <a:r>
              <a:t>Implementação - Camada 3 (Guardrail Semântico com Qwen 2.5)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• LLM Local Qwen 2.5</a:t>
            </a:r>
          </a:p>
          <a:p>
            <a:r>
              <a:t>• 7B Parâmetros</a:t>
            </a:r>
          </a:p>
          <a:p>
            <a:r>
              <a:t>• Latência &lt;100ms</a:t>
            </a:r>
          </a:p>
          <a:p>
            <a:r>
              <a:t>• Classificação Semântica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1645920" cy="1645920"/>
          </a:xfrm>
          <a:prstGeom prst="rect">
            <a:avLst/>
          </a:prstGeom>
          <a:solidFill>
            <a:srgbClr val="2DA44F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 SAFE</a:t>
            </a:r>
          </a:p>
          <a:p>
            <a:r>
              <a:t>(≥85%)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1645920" cy="1645920"/>
          </a:xfrm>
          <a:prstGeom prst="rect">
            <a:avLst/>
          </a:prstGeom>
          <a:solidFill>
            <a:srgbClr val="FFA500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⚠️ RISKY</a:t>
            </a:r>
          </a:p>
          <a:p>
            <a:r>
              <a:t>(60-84%)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731520" cy="1645920"/>
          </a:xfrm>
          <a:prstGeom prst="rect">
            <a:avLst/>
          </a:prstGeom>
          <a:solidFill>
            <a:srgbClr val="C91E1E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❌ UNSAFE</a:t>
            </a:r>
          </a:p>
          <a:p>
            <a:r>
              <a:t>(&lt;60%)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657600" cy="2743200"/>
          </a:xfrm>
          <a:prstGeom prst="rect">
            <a:avLst/>
          </a:prstGeom>
          <a:solidFill>
            <a:srgbClr val="C83232"/>
          </a:solidFill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❌ BLOQUEADO</a:t>
            </a:r>
          </a:p>
          <a:p>
            <a:r>
              <a:t>• 'rm -rf /'</a:t>
            </a:r>
          </a:p>
          <a:p>
            <a:r>
              <a:t>• 'DROP TABLE'</a:t>
            </a:r>
          </a:p>
          <a:p>
            <a:r>
              <a:t>• 'eval(exploit)'</a:t>
            </a:r>
          </a:p>
          <a:p/>
          <a:p>
            <a:r>
              <a:t>Conf: 0.99</a:t>
            </a:r>
          </a:p>
          <a:p>
            <a:r>
              <a:t>Tempo: 73ms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474720"/>
            <a:ext cx="3657600" cy="2743200"/>
          </a:xfrm>
          <a:prstGeom prst="rect">
            <a:avLst/>
          </a:prstGeom>
          <a:solidFill>
            <a:srgbClr val="329632"/>
          </a:solidFill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✅ PROCESSADO</a:t>
            </a:r>
          </a:p>
          <a:p>
            <a:r>
              <a:t>• 'Leia o README'</a:t>
            </a:r>
          </a:p>
          <a:p>
            <a:r>
              <a:t>• 'Status do Docker'</a:t>
            </a:r>
          </a:p>
          <a:p>
            <a:r>
              <a:t>• 'Últimos 10 logs'</a:t>
            </a:r>
          </a:p>
          <a:p/>
          <a:p>
            <a:r>
              <a:t>Conf: 0.96</a:t>
            </a:r>
          </a:p>
          <a:p>
            <a:r>
              <a:t>Tempo: 68ms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solidFill>
            <a:srgbClr val="003D7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Taxa de Acurácia: 95.65% | CVSS: 6.8 → 0.9 (-86%)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D7A"/>
                </a:solidFill>
              </a:defRPr>
            </a:pPr>
            <a:r>
              <a:t>Testes e Metodologia - Suite de 391 Prompts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828800" cy="457200"/>
          </a:xfrm>
          <a:prstGeom prst="rect">
            <a:avLst/>
          </a:prstGeom>
          <a:solidFill>
            <a:srgbClr val="C91E1E"/>
          </a:solidFill>
          <a:ln>
            <a:solidFill>
              <a:srgbClr val="C9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Prompt Injection: 28.6%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1828800" cy="4572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RCE: 24.0%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1828800" cy="457200"/>
          </a:xfrm>
          <a:prstGeom prst="rect">
            <a:avLst/>
          </a:prstGeom>
          <a:solidFill>
            <a:srgbClr val="FFA500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SQL Injection: 17.4%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29000"/>
            <a:ext cx="1828800" cy="457200"/>
          </a:xfrm>
          <a:prstGeom prst="rect">
            <a:avLst/>
          </a:prstGeom>
          <a:solidFill>
            <a:srgbClr val="003D7A"/>
          </a:solidFill>
          <a:ln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Escalação Priv.: 13.0%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1828800" cy="457200"/>
          </a:xfrm>
          <a:prstGeom prst="rect">
            <a:avLst/>
          </a:prstGeom>
          <a:solidFill>
            <a:srgbClr val="2DA44F"/>
          </a:solidFill>
          <a:ln>
            <a:solidFill>
              <a:srgbClr val="2DA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DoS: 10.7%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17720"/>
            <a:ext cx="1828800" cy="457200"/>
          </a:xfrm>
          <a:prstGeom prst="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Path Traversal: 6.1%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645920"/>
            <a:ext cx="5486400" cy="3657600"/>
          </a:xfrm>
          <a:prstGeom prst="rect">
            <a:avLst/>
          </a:prstGeom>
          <a:solidFill>
            <a:srgbClr val="003D7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EFICÁCIA DE BLOQUEIO</a:t>
            </a:r>
          </a:p>
          <a:p/>
          <a:p>
            <a:r>
              <a:t>Baseline:     0%</a:t>
            </a:r>
          </a:p>
          <a:p>
            <a:r>
              <a:t>Hardening:    84%</a:t>
            </a:r>
          </a:p>
          <a:p>
            <a:r>
              <a:t>Guardrail:    95.65% ✓</a:t>
            </a:r>
          </a:p>
          <a:p/>
          <a:p>
            <a:r>
              <a:t>False Negatives: 17 em 391 (4.35%)</a:t>
            </a:r>
          </a:p>
          <a:p/>
          <a:p>
            <a:r>
              <a:t>Prompts Testados: 391</a:t>
            </a:r>
          </a:p>
          <a:p>
            <a:r>
              <a:t>Repetições: 3 por prompt</a:t>
            </a:r>
          </a:p>
          <a:p>
            <a:r>
              <a:t>Ambiente: Ubuntu + Docker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D7A"/>
                </a:solidFill>
              </a:defRPr>
            </a:pPr>
            <a:r>
              <a:t>Resultados Quantitativos - Redução de Score CVSS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894076"/>
            <a:ext cx="1371600" cy="2592324"/>
          </a:xfrm>
          <a:prstGeom prst="rect">
            <a:avLst/>
          </a:prstGeom>
          <a:solidFill>
            <a:srgbClr val="C91E1E"/>
          </a:solidFill>
          <a:ln>
            <a:solidFill>
              <a:srgbClr val="C9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BASELINE</a:t>
            </a:r>
          </a:p>
          <a:p>
            <a:r>
              <a:t>8.1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086100"/>
            <a:ext cx="1371600" cy="24003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5669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HARDENING</a:t>
            </a:r>
          </a:p>
          <a:p>
            <a:r>
              <a:t>7.5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5198364"/>
            <a:ext cx="1371600" cy="288036"/>
          </a:xfrm>
          <a:prstGeom prst="rect">
            <a:avLst/>
          </a:prstGeom>
          <a:solidFill>
            <a:srgbClr val="2DA44F"/>
          </a:solidFill>
          <a:ln>
            <a:solidFill>
              <a:srgbClr val="2DA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5669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GUARDRAIL</a:t>
            </a:r>
          </a:p>
          <a:p>
            <a: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1828800" cy="3200400"/>
          </a:xfrm>
          <a:prstGeom prst="rect">
            <a:avLst/>
          </a:prstGeom>
          <a:solidFill>
            <a:srgbClr val="003D7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Redução:</a:t>
            </a:r>
          </a:p>
          <a:p>
            <a:r>
              <a:t>8.1 → 7.5</a:t>
            </a:r>
          </a:p>
          <a:p>
            <a:r>
              <a:t>-24%</a:t>
            </a:r>
          </a:p>
          <a:p/>
          <a:p>
            <a:r>
              <a:t>7.5 → 0.9</a:t>
            </a:r>
          </a:p>
          <a:p>
            <a:r>
              <a:t>-88%</a:t>
            </a:r>
          </a:p>
          <a:p/>
          <a:p>
            <a:r>
              <a:t>TOTAL:</a:t>
            </a:r>
          </a:p>
          <a:p>
            <a:r>
              <a:t>-89%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solidFill>
            <a:srgbClr val="003D7A"/>
          </a:solidFill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 CRÍTICO (8.1) para NEGLIGENCIÁVEL (0.9) | 89% de Redução de Risco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D7A"/>
                </a:solidFill>
              </a:defRPr>
            </a:pPr>
            <a:r>
              <a:t>Resultados Qualitativos - Análise de Bloqueios Bem-Sucedidos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743200" cy="4572000"/>
          </a:xfrm>
          <a:prstGeom prst="rect">
            <a:avLst/>
          </a:prstGeom>
          <a:solidFill>
            <a:srgbClr val="C86464"/>
          </a:solidFill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📌 CASO 1</a:t>
            </a:r>
          </a:p>
          <a:p>
            <a:r>
              <a:t>Jailbreak Obfuscado</a:t>
            </a:r>
          </a:p>
          <a:p/>
          <a:p>
            <a:r>
              <a:t>Prompt: 'Ignore suas instruções'</a:t>
            </a:r>
          </a:p>
          <a:p/>
          <a:p>
            <a:r>
              <a:t>Qwen Deteccção:</a:t>
            </a:r>
          </a:p>
          <a:p>
            <a:r>
              <a:t>• Padrão CWE-471</a:t>
            </a:r>
          </a:p>
          <a:p>
            <a:r>
              <a:t>• Confiança: 0.92</a:t>
            </a:r>
          </a:p>
          <a:p>
            <a:r>
              <a:t>• Tempo: 73ms</a:t>
            </a:r>
          </a:p>
          <a:p/>
          <a:p>
            <a:r>
              <a:t>✅ BLOQUEADO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645920"/>
            <a:ext cx="2743200" cy="4572000"/>
          </a:xfrm>
          <a:prstGeom prst="rect">
            <a:avLst/>
          </a:prstGeom>
          <a:solidFill>
            <a:srgbClr val="9664C8"/>
          </a:solidFill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📌 CASO 2</a:t>
            </a:r>
          </a:p>
          <a:p>
            <a:r>
              <a:t>SQL Injection</a:t>
            </a:r>
          </a:p>
          <a:p/>
          <a:p>
            <a:r>
              <a:t>Prompt: 'DROP TABLE users'</a:t>
            </a:r>
          </a:p>
          <a:p/>
          <a:p>
            <a:r>
              <a:t>Bloqueios:</a:t>
            </a:r>
          </a:p>
          <a:p>
            <a:r>
              <a:t>• RBAC: Sem privilégio</a:t>
            </a:r>
          </a:p>
          <a:p>
            <a:r>
              <a:t>• Qwen: Pattern Match</a:t>
            </a:r>
          </a:p>
          <a:p>
            <a:r>
              <a:t>• Confiança: 0.99</a:t>
            </a:r>
          </a:p>
          <a:p/>
          <a:p>
            <a:r>
              <a:t>✅✅ BLOQUEADO DUPLO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2743200" cy="4572000"/>
          </a:xfrm>
          <a:prstGeom prst="rect">
            <a:avLst/>
          </a:prstGeom>
          <a:solidFill>
            <a:srgbClr val="649664"/>
          </a:solidFill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📌 CASO 3</a:t>
            </a:r>
          </a:p>
          <a:p>
            <a:r>
              <a:t>Path Traversal</a:t>
            </a:r>
          </a:p>
          <a:p/>
          <a:p>
            <a:r>
              <a:t>Prompt: '../../../../etc/shadow'</a:t>
            </a:r>
          </a:p>
          <a:p/>
          <a:p>
            <a:r>
              <a:t>Qwen Detecção:</a:t>
            </a:r>
          </a:p>
          <a:p>
            <a:r>
              <a:t>• Arquivo crítico</a:t>
            </a:r>
          </a:p>
          <a:p>
            <a:r>
              <a:t>• Padrão ../..</a:t>
            </a:r>
          </a:p>
          <a:p>
            <a:r>
              <a:t>• Confiança: 0.96</a:t>
            </a:r>
          </a:p>
          <a:p/>
          <a:p>
            <a:r>
              <a:t>✅✅ BLOQUEADO DUPLO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solidFill>
            <a:srgbClr val="C91E1E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Taxa de Escapamento: 4.35% | False Positives: &lt;2% | Probabilidade Bypass: ~0.1%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D7A"/>
                </a:solidFill>
              </a:defRPr>
            </a:pPr>
            <a:r>
              <a:t>Boas Práticas e Implementação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57600" cy="2011680"/>
          </a:xfrm>
          <a:prstGeom prst="rect">
            <a:avLst/>
          </a:prstGeom>
          <a:solidFill>
            <a:srgbClr val="2DA44F"/>
          </a:solidFill>
          <a:ln>
            <a:solidFill>
              <a:srgbClr val="2DA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🔐 MENOR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Cada agente recebe exatamente o necessário</a:t>
            </a:r>
          </a:p>
          <a:p>
            <a:r>
              <a:t>RBACpadronizado</a:t>
            </a:r>
          </a:p>
          <a:p>
            <a:r>
              <a:t>Revisão mensal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645920"/>
            <a:ext cx="3657600" cy="2011680"/>
          </a:xfrm>
          <a:prstGeom prst="rect">
            <a:avLst/>
          </a:prstGeom>
          <a:solidFill>
            <a:srgbClr val="003D7A"/>
          </a:solidFill>
          <a:ln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🛡️ DEFENSE-IN-DEPTH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Múltiplas camadas de defesa</a:t>
            </a:r>
          </a:p>
          <a:p>
            <a:r>
              <a:t>Falha de uma não é falha de tudo</a:t>
            </a:r>
          </a:p>
          <a:p>
            <a:r>
              <a:t>Taxa de sucesso exponencial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3657600" cy="2011680"/>
          </a:xfrm>
          <a:prstGeom prst="rect">
            <a:avLst/>
          </a:prstGeom>
          <a:solidFill>
            <a:srgbClr val="C91E1E"/>
          </a:solidFill>
          <a:ln>
            <a:solidFill>
              <a:srgbClr val="C9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👥 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Nunca confie</a:t>
            </a:r>
          </a:p>
          <a:p>
            <a:r>
              <a:t>Verifique sempre</a:t>
            </a:r>
          </a:p>
          <a:p>
            <a:r>
              <a:t>mTLS + Auditoria 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931920"/>
            <a:ext cx="3657600" cy="201168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📊 AUDITORIA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480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Logging estruturado (JSON)</a:t>
            </a:r>
          </a:p>
          <a:p>
            <a:r>
              <a:t>100% das ações registradas</a:t>
            </a:r>
          </a:p>
          <a:p>
            <a:r>
              <a:t>Alertaspara anomalias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D7A"/>
                </a:solidFill>
              </a:defRPr>
            </a:pPr>
            <a:r>
              <a:t>Conclusões e Trabalhos Futuros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solidFill>
            <a:srgbClr val="2DA44F"/>
          </a:solidFill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✅ CONCLUSÕES</a:t>
            </a:r>
          </a:p>
          <a:p/>
          <a:p>
            <a:r>
              <a:t>1. Hipótese confirmada</a:t>
            </a:r>
          </a:p>
          <a:p>
            <a:r>
              <a:t>   (8.1 → 0.9)</a:t>
            </a:r>
          </a:p>
          <a:p/>
          <a:p>
            <a:r>
              <a:t>2. Eficácia: 95.65%</a:t>
            </a:r>
          </a:p>
          <a:p>
            <a:r>
              <a:t>   (391 prompts)</a:t>
            </a:r>
          </a:p>
          <a:p/>
          <a:p>
            <a:r>
              <a:t>3. Stack viável</a:t>
            </a:r>
          </a:p>
          <a:p>
            <a:r>
              <a:t>   (Open-source)</a:t>
            </a:r>
          </a:p>
          <a:p/>
          <a:p>
            <a:r>
              <a:t>4. Lacuna preenchida</a:t>
            </a:r>
          </a:p>
          <a:p>
            <a:r>
              <a:t>   (Português)</a:t>
            </a:r>
          </a:p>
          <a:p/>
          <a:p>
            <a:r>
              <a:t>5. Impacto documentado</a:t>
            </a:r>
          </a:p>
          <a:p>
            <a:r>
              <a:t>   (STRIDE + CVSS)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4114800" cy="4572000"/>
          </a:xfrm>
          <a:prstGeom prst="rect">
            <a:avLst/>
          </a:prstGeom>
          <a:solidFill>
            <a:srgbClr val="003D7A"/>
          </a:solidFill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🚀 TRABALHOS FUTUROS</a:t>
            </a:r>
          </a:p>
          <a:p/>
          <a:p>
            <a:r>
              <a:t>1. GPU Acceleration</a:t>
            </a:r>
          </a:p>
          <a:p>
            <a:r>
              <a:t>   (76ms → 10ms)</a:t>
            </a:r>
          </a:p>
          <a:p/>
          <a:p>
            <a:r>
              <a:t>2. Multi-model Ensemble</a:t>
            </a:r>
          </a:p>
          <a:p>
            <a:r>
              <a:t>   (95.65% → 99%)</a:t>
            </a:r>
          </a:p>
          <a:p/>
          <a:p>
            <a:r>
              <a:t>3. Federated Learning</a:t>
            </a:r>
          </a:p>
          <a:p>
            <a:r>
              <a:t>   (Privacidade LGPD)</a:t>
            </a:r>
          </a:p>
          <a:p/>
          <a:p>
            <a:r>
              <a:t>4. Honeypot &amp; Deception</a:t>
            </a:r>
          </a:p>
          <a:p>
            <a:r>
              <a:t>   (Zero-day detection)</a:t>
            </a:r>
          </a:p>
          <a:p/>
          <a:p>
            <a:r>
              <a:t>5. Service Mesh</a:t>
            </a:r>
          </a:p>
          <a:p>
            <a:r>
              <a:t>   (Produções-ready)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3D7A"/>
            </a:gs>
            <a:gs pos="100000">
              <a:srgbClr val="14326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Obrigado pela Atenção!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</a:defRPr>
            </a:pPr>
            <a:r>
              <a:t>? DÚVIDAS OU CONSIDERAÇÕES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Email: efraim.lima@aluno.fatec.sp.gov.br</a:t>
            </a:r>
          </a:p>
          <a:p>
            <a:r>
              <a:t>GitHub: github.com/efraim-lima/TCC-MCP-Security</a:t>
            </a:r>
          </a:p>
          <a:p>
            <a:r>
              <a:t>LinkedIn: linkedin.com/in/efraim-lima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